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44400" y="533095"/>
            <a:ext cx="50292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3657600"/>
            <a:ext cx="156819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spc="-3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AI, </a:t>
            </a:r>
            <a:pPr algn="l" indent="0" marL="0">
              <a:lnSpc>
                <a:spcPct val="95000"/>
              </a:lnSpc>
              <a:buNone/>
            </a:pPr>
            <a:r>
              <a:rPr lang="en-US" sz="8800" i="1" spc="-3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Reimagined.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952805" y="7038137"/>
            <a:ext cx="16367760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952805" y="7132320"/>
            <a:ext cx="8229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AUTOMATION PLATFORM POWERED BY PROPRIETARY AI ORCHESTRATION.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0" y="768096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 AI —— ENTERPRISE INTELLIGENCE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CONTEXT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147163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operations are drowning in </a:t>
            </a:r>
            <a:pPr algn="l" indent="0" marL="0">
              <a:lnSpc>
                <a:spcPct val="105000"/>
              </a:lnSpc>
              <a:buNone/>
            </a:pPr>
            <a:r>
              <a:rPr lang="en-US" sz="4800" i="1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inefficient, siloed AI tools.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805" y="3707892"/>
            <a:ext cx="137352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systems, high costs, data security risks, and slow integration. Leading enterprises lose millions in productivity and miss competitive edge due to legacy AI infrastructure.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805" y="6779362"/>
            <a:ext cx="163833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Shape 6"/>
          <p:cNvSpPr/>
          <p:nvPr/>
        </p:nvSpPr>
        <p:spPr>
          <a:xfrm>
            <a:off x="6407201" y="6785762"/>
            <a:ext cx="9144" cy="2358238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9" name="Shape 7"/>
          <p:cNvSpPr/>
          <p:nvPr/>
        </p:nvSpPr>
        <p:spPr>
          <a:xfrm>
            <a:off x="11867998" y="6785762"/>
            <a:ext cx="9144" cy="2358238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5" y="7167067"/>
            <a:ext cx="52120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i="1" spc="-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52805" y="8424367"/>
            <a:ext cx="4120286" cy="75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AI tools leading to fragmented workflows.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94906" y="7167067"/>
            <a:ext cx="52120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i="1" spc="-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100" dirty="0"/>
          </a:p>
        </p:txBody>
      </p:sp>
      <p:sp>
        <p:nvSpPr>
          <p:cNvPr id="13" name="Text 11"/>
          <p:cNvSpPr/>
          <p:nvPr/>
        </p:nvSpPr>
        <p:spPr>
          <a:xfrm>
            <a:off x="6794906" y="8424367"/>
            <a:ext cx="4120286" cy="75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Skyrocketing cloud costs and vendor lock-in.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55703" y="7167067"/>
            <a:ext cx="52120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i="1" spc="-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100" dirty="0"/>
          </a:p>
        </p:txBody>
      </p:sp>
      <p:sp>
        <p:nvSpPr>
          <p:cNvPr id="15" name="Text 13"/>
          <p:cNvSpPr/>
          <p:nvPr/>
        </p:nvSpPr>
        <p:spPr>
          <a:xfrm>
            <a:off x="12255703" y="8424367"/>
            <a:ext cx="4120286" cy="75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vulnerabilities with sensitive enterprise data.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524305"/>
            <a:ext cx="608258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2110435"/>
            <a:ext cx="608258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practice with a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focus.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52805" y="4059022"/>
            <a:ext cx="51014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visit your office, understand your hardware and your workflow, and leave behind a private AI environment your team can actually use — without a subscription and without the cloud.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19695" y="2945282"/>
            <a:ext cx="9715500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Shape 6"/>
          <p:cNvSpPr/>
          <p:nvPr/>
        </p:nvSpPr>
        <p:spPr>
          <a:xfrm>
            <a:off x="7619695" y="4905756"/>
            <a:ext cx="9715500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9" name="Shape 7"/>
          <p:cNvSpPr/>
          <p:nvPr/>
        </p:nvSpPr>
        <p:spPr>
          <a:xfrm>
            <a:off x="7619695" y="6866230"/>
            <a:ext cx="9715500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7619695" y="1453896"/>
            <a:ext cx="838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1333195"/>
            <a:ext cx="890808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coding agents, on-site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686800" y="1908353"/>
            <a:ext cx="74560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and OpenClaw deployed directly on your developers' machines, tuned to your codebase and your conventions.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19695" y="3415284"/>
            <a:ext cx="838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3294583"/>
            <a:ext cx="890808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LLMs for everyday work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686800" y="3869741"/>
            <a:ext cx="74560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models — chosen for your hardware — wired into the tools your team already uses.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619695" y="5375758"/>
            <a:ext cx="838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5255057"/>
            <a:ext cx="890808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data backups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686800" y="5830214"/>
            <a:ext cx="74560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encrypted, on-premise — with a tested path back when you need it most.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19695" y="7336231"/>
            <a:ext cx="838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7215530"/>
            <a:ext cx="890808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maintenance, on retainer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686800" y="7790688"/>
            <a:ext cx="74560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update the models, rotate the backups, and stay one phone call away.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1471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pieces we know </a:t>
            </a:r>
            <a:pPr algn="l" indent="0" marL="0">
              <a:lnSpc>
                <a:spcPct val="100000"/>
              </a:lnSpc>
              <a:buNone/>
            </a:pPr>
            <a:r>
              <a:rPr lang="en-US" sz="4800" i="1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and out.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805" y="3258922"/>
            <a:ext cx="163833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5" y="7737653"/>
            <a:ext cx="163833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Shape 6"/>
          <p:cNvSpPr/>
          <p:nvPr/>
        </p:nvSpPr>
        <p:spPr>
          <a:xfrm>
            <a:off x="6407201" y="3265322"/>
            <a:ext cx="9144" cy="447233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9" name="Shape 7"/>
          <p:cNvSpPr/>
          <p:nvPr/>
        </p:nvSpPr>
        <p:spPr>
          <a:xfrm>
            <a:off x="11867998" y="3265322"/>
            <a:ext cx="9144" cy="447233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0" name="Text 8"/>
          <p:cNvSpPr/>
          <p:nvPr/>
        </p:nvSpPr>
        <p:spPr>
          <a:xfrm>
            <a:off x="1333195" y="3722522"/>
            <a:ext cx="483991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195" y="4308653"/>
            <a:ext cx="4839919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spc="-7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33195" y="5139842"/>
            <a:ext cx="48399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reasoning agent we configure for long-running tasks: refactors, migrations, pull-request review. Runs entirely on local hardware.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195" y="6830568"/>
            <a:ext cx="4839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thinker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94906" y="3722522"/>
            <a:ext cx="483991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4906" y="4308653"/>
            <a:ext cx="4839919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spc="-7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94906" y="5139842"/>
            <a:ext cx="48399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coding agent we specialize in tuning for your repo — file-level edits, tests, and shell access without the round trip.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94906" y="6830568"/>
            <a:ext cx="4839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55703" y="3722522"/>
            <a:ext cx="483991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· 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55703" y="4308653"/>
            <a:ext cx="4839919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spc="-7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 &amp; 3.6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255703" y="5139842"/>
            <a:ext cx="48399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models we favor for the quality-to-footprint ratio. We pick the size that fits your machine, not the other way around.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255703" y="6830568"/>
            <a:ext cx="4839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FIT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549371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54937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spc="-10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model for the </a:t>
            </a:r>
            <a:pPr algn="l" indent="0" marL="0">
              <a:lnSpc>
                <a:spcPct val="105000"/>
              </a:lnSpc>
              <a:buNone/>
            </a:pPr>
            <a:r>
              <a:rPr lang="en-US" sz="5100" i="1" spc="-10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you own.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52805" y="4468673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ask you to buy a server rack. We survey your existing hardware, benchmark a short list of candidates, and pick the one that actually runs well on your desk.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39305" y="1600200"/>
            <a:ext cx="2513686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239305" y="2107692"/>
            <a:ext cx="2513686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9" name="Text 7"/>
          <p:cNvSpPr/>
          <p:nvPr/>
        </p:nvSpPr>
        <p:spPr>
          <a:xfrm>
            <a:off x="9752990" y="1600200"/>
            <a:ext cx="2173529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52990" y="2107692"/>
            <a:ext cx="2173529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1" name="Text 9"/>
          <p:cNvSpPr/>
          <p:nvPr/>
        </p:nvSpPr>
        <p:spPr>
          <a:xfrm>
            <a:off x="11926519" y="1600200"/>
            <a:ext cx="2970886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26519" y="2107692"/>
            <a:ext cx="2970886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3" name="Text 11"/>
          <p:cNvSpPr/>
          <p:nvPr/>
        </p:nvSpPr>
        <p:spPr>
          <a:xfrm>
            <a:off x="14820595" y="1600200"/>
            <a:ext cx="25146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897405" y="2107692"/>
            <a:ext cx="24387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9305" y="3009290"/>
            <a:ext cx="25136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Shape 14"/>
          <p:cNvSpPr/>
          <p:nvPr/>
        </p:nvSpPr>
        <p:spPr>
          <a:xfrm>
            <a:off x="9752990" y="3009290"/>
            <a:ext cx="2173529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26519" y="3009290"/>
            <a:ext cx="29708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97405" y="3009290"/>
            <a:ext cx="24387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305" y="3910889"/>
            <a:ext cx="25136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52990" y="3910889"/>
            <a:ext cx="2173529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26519" y="3910889"/>
            <a:ext cx="29708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97405" y="3910889"/>
            <a:ext cx="24387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3" name="Shape 21"/>
          <p:cNvSpPr/>
          <p:nvPr/>
        </p:nvSpPr>
        <p:spPr>
          <a:xfrm>
            <a:off x="7239305" y="4812487"/>
            <a:ext cx="25136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4" name="Shape 22"/>
          <p:cNvSpPr/>
          <p:nvPr/>
        </p:nvSpPr>
        <p:spPr>
          <a:xfrm>
            <a:off x="9752990" y="4812487"/>
            <a:ext cx="2173529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26519" y="4812487"/>
            <a:ext cx="297088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97405" y="4812487"/>
            <a:ext cx="24387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7" name="Text 25"/>
          <p:cNvSpPr/>
          <p:nvPr/>
        </p:nvSpPr>
        <p:spPr>
          <a:xfrm>
            <a:off x="7239305" y="2361895"/>
            <a:ext cx="25136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 · 7B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752990" y="2361895"/>
            <a:ext cx="2173529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GB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926519" y="2361895"/>
            <a:ext cx="29708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laptop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820595" y="2361895"/>
            <a:ext cx="25146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coding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239305" y="3263494"/>
            <a:ext cx="25136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 · 14B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752990" y="3263494"/>
            <a:ext cx="2173529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GB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926519" y="3263494"/>
            <a:ext cx="29708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 GPU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4820595" y="3263494"/>
            <a:ext cx="25146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team-wide agent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7239305" y="4165092"/>
            <a:ext cx="25136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 · 32B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752990" y="4165092"/>
            <a:ext cx="2173529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GB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1926519" y="4165092"/>
            <a:ext cx="29708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rig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4820595" y="4165092"/>
            <a:ext cx="25146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&amp; review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7239305" y="5066690"/>
            <a:ext cx="25136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 · 72B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752990" y="5066690"/>
            <a:ext cx="2173529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GB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1926519" y="5066690"/>
            <a:ext cx="2970886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workstation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4820595" y="5066690"/>
            <a:ext cx="25146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quality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843716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TOOLS, KEPT LOCAL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843716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and Codex, pointed at a model you </a:t>
            </a:r>
            <a:pPr algn="l" indent="0" marL="0">
              <a:lnSpc>
                <a:spcPct val="105000"/>
              </a:lnSpc>
              <a:buNone/>
            </a:pPr>
            <a:r>
              <a:rPr lang="en-US" sz="4800" i="1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control.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805" y="4347972"/>
            <a:ext cx="70637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developers keep the interfaces they already like. We redirect them to a local endpoint — same commands, same muscle memory, none of the outbound traffic.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805" y="6438290"/>
            <a:ext cx="819119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Shape 6"/>
          <p:cNvSpPr/>
          <p:nvPr/>
        </p:nvSpPr>
        <p:spPr>
          <a:xfrm>
            <a:off x="952805" y="7616952"/>
            <a:ext cx="819119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1524305" y="5849417"/>
            <a:ext cx="7848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CLI </a:t>
            </a:r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nothing changes for the developer at the keyboard.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24305" y="6655003"/>
            <a:ext cx="7848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limits </a:t>
            </a:r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machine is the limit, and the machine is yours.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24305" y="7832750"/>
            <a:ext cx="7848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-13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routing </a:t>
            </a:r>
            <a:pPr algn="l" indent="0" marL="0">
              <a:buNone/>
            </a:pPr>
            <a:r>
              <a:rPr lang="en-US" sz="21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sensitive repos stay local, others can still use cloud.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5695" y="1333195"/>
            <a:ext cx="7429500" cy="7810805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3401" y="2025396"/>
            <a:ext cx="6655003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3401" y="1682496"/>
            <a:ext cx="114300" cy="114300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84510" y="1682496"/>
            <a:ext cx="114300" cy="114300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75620" y="1682496"/>
            <a:ext cx="114300" cy="114300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93401" y="2260397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agentek · local endpoint active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93401" y="2660904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800" spc="-13" kern="0" dirty="0">
                <a:solidFill>
                  <a:srgbClr val="EC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ANTHROPIC_BASE_URL=http://localhost:8787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93401" y="3060497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800" spc="-13" kern="0" dirty="0">
                <a:solidFill>
                  <a:srgbClr val="EC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 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93401" y="3461004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to qwen-3.6-32b (on-device)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93401" y="3860597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context indexed · 14,208 files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93401" y="4261104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no outbound requests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93401" y="5061204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algn="l" indent="0" marL="0">
              <a:buNone/>
            </a:pPr>
            <a:r>
              <a:rPr lang="en-US" sz="1800" spc="-13" kern="0" dirty="0">
                <a:solidFill>
                  <a:srgbClr val="EC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billing module for multi-currency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93401" y="5460797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 · reading src/billing/** · 3.4s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293401" y="5861304"/>
            <a:ext cx="685434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13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7 files edited · 2 tests added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1471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that </a:t>
            </a:r>
            <a:pPr algn="l" indent="0" marL="0">
              <a:lnSpc>
                <a:spcPct val="100000"/>
              </a:lnSpc>
              <a:buNone/>
            </a:pPr>
            <a:r>
              <a:rPr lang="en-US" sz="4800" i="1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come back.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805" y="3067812"/>
            <a:ext cx="137352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small businesses have a backup in name only — an external drive in a drawer, a free tier on someone else's cloud, a promise nobody has tested in two years. We build you a system that restores in minutes, not in a panic.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805" y="6462979"/>
            <a:ext cx="5156302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Text 6"/>
          <p:cNvSpPr/>
          <p:nvPr/>
        </p:nvSpPr>
        <p:spPr>
          <a:xfrm>
            <a:off x="952805" y="6774790"/>
            <a:ext cx="5310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protect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805" y="7338060"/>
            <a:ext cx="53108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On-premise, versioned, encrypted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805" y="8450885"/>
            <a:ext cx="5310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Snapshotted continuously on hardware that lives in your building. You hold the keys.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66306" y="6462979"/>
            <a:ext cx="5156302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2" name="Text 10"/>
          <p:cNvSpPr/>
          <p:nvPr/>
        </p:nvSpPr>
        <p:spPr>
          <a:xfrm>
            <a:off x="6566306" y="6774790"/>
            <a:ext cx="5310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verify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66306" y="7338060"/>
            <a:ext cx="53108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Restores, on a schedule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566306" y="8450885"/>
            <a:ext cx="5310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trust a backup we haven't read back. Quarterly drills, documented and signed off.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178894" y="6462979"/>
            <a:ext cx="5156302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6" name="Text 14"/>
          <p:cNvSpPr/>
          <p:nvPr/>
        </p:nvSpPr>
        <p:spPr>
          <a:xfrm>
            <a:off x="12178894" y="6774790"/>
            <a:ext cx="5310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spc="-1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recover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78894" y="7338060"/>
            <a:ext cx="53108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27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Hour-one playbook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178894" y="8450885"/>
            <a:ext cx="5310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printed runbook and a direct number. When the day comes, you are not searching Reddit.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PROCESS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844345"/>
            <a:ext cx="147163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predictable </a:t>
            </a:r>
            <a:pPr algn="l" indent="0" marL="0">
              <a:lnSpc>
                <a:spcPct val="100000"/>
              </a:lnSpc>
              <a:buNone/>
            </a:pPr>
            <a:r>
              <a:rPr lang="en-US" sz="4200" i="1" spc="-8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52805" y="2798064"/>
            <a:ext cx="163833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5" y="3859682"/>
            <a:ext cx="163833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Shape 6"/>
          <p:cNvSpPr/>
          <p:nvPr/>
        </p:nvSpPr>
        <p:spPr>
          <a:xfrm>
            <a:off x="952805" y="5062118"/>
            <a:ext cx="163833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9" name="Shape 7"/>
          <p:cNvSpPr/>
          <p:nvPr/>
        </p:nvSpPr>
        <p:spPr>
          <a:xfrm>
            <a:off x="952805" y="5837530"/>
            <a:ext cx="163833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0" name="Shape 8"/>
          <p:cNvSpPr/>
          <p:nvPr/>
        </p:nvSpPr>
        <p:spPr>
          <a:xfrm>
            <a:off x="952805" y="7039966"/>
            <a:ext cx="163833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05" y="8101584"/>
            <a:ext cx="16383305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10"/>
          <p:cNvSpPr/>
          <p:nvPr/>
        </p:nvSpPr>
        <p:spPr>
          <a:xfrm>
            <a:off x="952805" y="3064154"/>
            <a:ext cx="179039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47695" y="2975458"/>
            <a:ext cx="274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survey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96305" y="3070555"/>
            <a:ext cx="9221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visit. Inventory of hardware, inventory of data, inventory of the workflows your team actually uses.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354605" y="3064154"/>
            <a:ext cx="1981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805" y="4125773"/>
            <a:ext cx="179039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47695" y="4037076"/>
            <a:ext cx="274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shortlist &amp; bench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96305" y="4132174"/>
            <a:ext cx="9221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benchmark three to five candidate models against your codebase and pick the one that earns its keep.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354605" y="4125773"/>
            <a:ext cx="1981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days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805" y="5328209"/>
            <a:ext cx="179039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47695" y="5239512"/>
            <a:ext cx="274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integrate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096305" y="5334610"/>
            <a:ext cx="9221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deployed, editors wired up, backup system installed, firewall rules reviewed.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354605" y="5328209"/>
            <a:ext cx="1981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805" y="6104534"/>
            <a:ext cx="179039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047695" y="6015838"/>
            <a:ext cx="274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&amp; training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96305" y="6110935"/>
            <a:ext cx="9221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runbook, a live walkthrough for your team, and a restore drill before we leave.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354605" y="6104534"/>
            <a:ext cx="1981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805" y="7306970"/>
            <a:ext cx="179039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47695" y="7218274"/>
            <a:ext cx="274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96305" y="7313371"/>
            <a:ext cx="9221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check-ins, model updates, and backup verification — with a named contact, not a ticket queue.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354605" y="7306970"/>
            <a:ext cx="1981505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PACKAGES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1471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</a:t>
            </a:r>
            <a:pPr algn="l" indent="0" marL="0">
              <a:lnSpc>
                <a:spcPct val="100000"/>
              </a:lnSpc>
              <a:buNone/>
            </a:pPr>
            <a:r>
              <a:rPr lang="en-US" sz="4800" i="1" spc="-96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working together.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13602" y="3258922"/>
            <a:ext cx="5460797" cy="5332781"/>
          </a:xfrm>
          <a:prstGeom prst="rect">
            <a:avLst/>
          </a:prstGeom>
          <a:solidFill>
            <a:srgbClr val="C5DD97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805" y="3258922"/>
            <a:ext cx="5460797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Shape 6"/>
          <p:cNvSpPr/>
          <p:nvPr/>
        </p:nvSpPr>
        <p:spPr>
          <a:xfrm>
            <a:off x="6413602" y="3258922"/>
            <a:ext cx="5460797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9" name="Shape 7"/>
          <p:cNvSpPr/>
          <p:nvPr/>
        </p:nvSpPr>
        <p:spPr>
          <a:xfrm>
            <a:off x="11874398" y="3258922"/>
            <a:ext cx="5460797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7201" y="3258922"/>
            <a:ext cx="9144" cy="5332781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1" name="Shape 9"/>
          <p:cNvSpPr/>
          <p:nvPr/>
        </p:nvSpPr>
        <p:spPr>
          <a:xfrm>
            <a:off x="11867998" y="3258922"/>
            <a:ext cx="9144" cy="5332781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52805" y="3569818"/>
            <a:ext cx="484632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805" y="4042562"/>
            <a:ext cx="4316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i="1" spc="-25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solo practitioner or a two-seat office.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805" y="5053889"/>
            <a:ext cx="5074006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9" y="5060290"/>
            <a:ext cx="5323637" cy="3265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workstation, one agent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 (7B or 14B)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backup, single node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on-site install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94906" y="3569818"/>
            <a:ext cx="484632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· RECOMMENDED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4906" y="4042562"/>
            <a:ext cx="4316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i="1" spc="-25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small team that codes every day.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794906" y="5053889"/>
            <a:ext cx="4692701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1170" y="5060290"/>
            <a:ext cx="4942332" cy="3265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eight developer seats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 (32B) shared endpoint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+ OpenClaw, both tuned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backup with quarterly drills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retainer, named contact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255703" y="3569818"/>
            <a:ext cx="484632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55703" y="4042562"/>
            <a:ext cx="4316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i="1" spc="-25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firm with custodial data and auditors.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2255703" y="5053889"/>
            <a:ext cx="4699102" cy="914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3" name="Text 21"/>
          <p:cNvSpPr/>
          <p:nvPr/>
        </p:nvSpPr>
        <p:spPr>
          <a:xfrm>
            <a:off x="12081967" y="5060290"/>
            <a:ext cx="4948733" cy="3265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Multi-node, high-availability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 (72B) or custom fit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Offsite encrypted replica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runbooks, audit trail</a:t>
            </a:r>
            <a:endParaRPr lang="en-US" sz="19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on-call, SLA in writing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805" y="8820302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per site — we quote once we've seen the room.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151516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0" y="53309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NEXT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33195"/>
            <a:ext cx="1687433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920240"/>
            <a:ext cx="1471635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0" spc="-441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half-day survey, </a:t>
            </a:r>
            <a:pPr algn="l" indent="0" marL="0">
              <a:lnSpc>
                <a:spcPct val="100000"/>
              </a:lnSpc>
              <a:buNone/>
            </a:pPr>
            <a:r>
              <a:rPr lang="en-US" sz="12600" i="1" spc="-441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us.</a:t>
            </a:r>
            <a:endParaRPr lang="en-US" sz="12600" dirty="0"/>
          </a:p>
        </p:txBody>
      </p:sp>
      <p:sp>
        <p:nvSpPr>
          <p:cNvPr id="6" name="Text 4"/>
          <p:cNvSpPr/>
          <p:nvPr/>
        </p:nvSpPr>
        <p:spPr>
          <a:xfrm>
            <a:off x="952805" y="5373014"/>
            <a:ext cx="1275405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spc="-13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come to your office, look at the hardware, listen to the problem, and leave behind a written recommendation — whether or not you decide to work with us.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805" y="7948879"/>
            <a:ext cx="1638330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Shape 6"/>
          <p:cNvSpPr/>
          <p:nvPr/>
        </p:nvSpPr>
        <p:spPr>
          <a:xfrm>
            <a:off x="6407201" y="8298180"/>
            <a:ext cx="9144" cy="84582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9" name="Shape 7"/>
          <p:cNvSpPr/>
          <p:nvPr/>
        </p:nvSpPr>
        <p:spPr>
          <a:xfrm>
            <a:off x="11867998" y="8298180"/>
            <a:ext cx="9144" cy="84582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5" y="8298180"/>
            <a:ext cx="523219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805" y="8770925"/>
            <a:ext cx="52321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hello@agentek.co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94906" y="8298180"/>
            <a:ext cx="523219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4906" y="8770925"/>
            <a:ext cx="52321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(000) 000 · 0000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55703" y="8298180"/>
            <a:ext cx="523219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55703" y="8770925"/>
            <a:ext cx="52321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agentek.co/survey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805" y="9433865"/>
            <a:ext cx="1392631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12566" y="9433865"/>
            <a:ext cx="99943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LuminaAI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LuminaAI — AI-Powered Enterprise Intelligence</dc:title>
  <dc:subject>PptxGenJS Presentation</dc:subject>
  <dc:creator>LuminaAI</dc:creator>
  <cp:lastModifiedBy>LuminaAI</cp:lastModifiedBy>
  <cp:revision>1</cp:revision>
  <dcterms:created xsi:type="dcterms:W3CDTF">2026-06-12T22:09:49Z</dcterms:created>
  <dcterms:modified xsi:type="dcterms:W3CDTF">2026-06-12T22:09:49Z</dcterms:modified>
</cp:coreProperties>
</file>